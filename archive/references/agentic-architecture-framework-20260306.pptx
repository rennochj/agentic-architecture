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69" r:id="rId6"/>
    <p:sldId id="271" r:id="rId7"/>
    <p:sldId id="273" r:id="rId8"/>
    <p:sldId id="262" r:id="rId9"/>
    <p:sldId id="274" r:id="rId10"/>
    <p:sldId id="275" r:id="rId11"/>
    <p:sldId id="267" r:id="rId12"/>
    <p:sldId id="258" r:id="rId13"/>
    <p:sldId id="259" r:id="rId14"/>
    <p:sldId id="266" r:id="rId15"/>
    <p:sldId id="268" r:id="rId16"/>
    <p:sldId id="260" r:id="rId17"/>
    <p:sldId id="261" r:id="rId18"/>
    <p:sldId id="272" r:id="rId19"/>
    <p:sldId id="270" r:id="rId20"/>
    <p:sldId id="263" r:id="rId21"/>
    <p:sldId id="264" r:id="rId22"/>
    <p:sldId id="265" r:id="rId23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1pPr>
    <a:lvl2pPr marL="0" marR="0" indent="1714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2pPr>
    <a:lvl3pPr marL="0" marR="0" indent="3429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3pPr>
    <a:lvl4pPr marL="0" marR="0" indent="5143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4pPr>
    <a:lvl5pPr marL="0" marR="0" indent="6858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5pPr>
    <a:lvl6pPr marL="0" marR="0" indent="8572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6pPr>
    <a:lvl7pPr marL="0" marR="0" indent="10287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7pPr>
    <a:lvl8pPr marL="0" marR="0" indent="120015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8pPr>
    <a:lvl9pPr marL="0" marR="0" indent="1371600" algn="ctr" defTabSz="2286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0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Com Regular"/>
        <a:ea typeface="Avenir Next LT Com Regular"/>
        <a:cs typeface="Avenir Next LT Com Regular"/>
        <a:sym typeface="Avenir Next LT Com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30F7F-BC05-9C48-801A-4AF591BB08B6}" v="21" dt="2026-03-06T19:35:35.54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0"/>
    <p:restoredTop sz="94677"/>
  </p:normalViewPr>
  <p:slideViewPr>
    <p:cSldViewPr snapToGrid="0">
      <p:cViewPr varScale="1">
        <p:scale>
          <a:sx n="157" d="100"/>
          <a:sy n="157" d="100"/>
        </p:scale>
        <p:origin x="19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BD1C4-931A-AF44-8144-7D6C3FFCC72B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2A3A8-6862-A346-AA05-B17BE0FA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8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2A3A8-6862-A346-AA05-B17BE0FAB5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53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"/>
          <p:cNvSpPr txBox="1">
            <a:spLocks noGrp="1"/>
          </p:cNvSpPr>
          <p:nvPr>
            <p:ph type="title"/>
          </p:nvPr>
        </p:nvSpPr>
        <p:spPr>
          <a:xfrm>
            <a:off x="750732" y="2622303"/>
            <a:ext cx="9430958" cy="2301964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0"/>
              </a:spcAft>
              <a:defRPr sz="7200" b="1" i="0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1E1A33E4-CFB1-0D95-8593-D7AD5E4A23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5786" y="434425"/>
            <a:ext cx="1227514" cy="1127247"/>
          </a:xfrm>
          <a:prstGeom prst="rect">
            <a:avLst/>
          </a:prstGeom>
        </p:spPr>
      </p:pic>
      <p:pic>
        <p:nvPicPr>
          <p:cNvPr id="6" name="Picture 5" descr="A blue and green gradient&#10;&#10;AI-generated content may be incorrect.">
            <a:extLst>
              <a:ext uri="{FF2B5EF4-FFF2-40B4-BE49-F238E27FC236}">
                <a16:creationId xmlns:a16="http://schemas.microsoft.com/office/drawing/2014/main" id="{5F1798A2-7DAD-E0D2-9FCD-B8CDB47AE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4" b="32850"/>
          <a:stretch>
            <a:fillRect/>
          </a:stretch>
        </p:blipFill>
        <p:spPr>
          <a:xfrm>
            <a:off x="-3175" y="5329914"/>
            <a:ext cx="12192000" cy="1050338"/>
          </a:xfrm>
          <a:prstGeom prst="rect">
            <a:avLst/>
          </a:prstGeom>
        </p:spPr>
      </p:pic>
      <p:pic>
        <p:nvPicPr>
          <p:cNvPr id="16" name="Picture 15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E8740D84-C169-225B-D790-62514D962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7" y="434426"/>
            <a:ext cx="1499308" cy="1499308"/>
          </a:xfrm>
          <a:prstGeom prst="rect">
            <a:avLst/>
          </a:prstGeom>
        </p:spPr>
      </p:pic>
      <p:sp>
        <p:nvSpPr>
          <p:cNvPr id="121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750732" y="5329915"/>
            <a:ext cx="9430958" cy="1050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76250" algn="l"/>
              </a:tabLst>
              <a:defRPr sz="2400" b="0" i="0" spc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60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11048940" cy="553820"/>
          </a:xfrm>
        </p:spPr>
        <p:txBody>
          <a:bodyPr anchor="t"/>
          <a:lstStyle>
            <a:lvl1pPr>
              <a:defRPr sz="4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11048941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accent4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500332"/>
            <a:ext cx="11048941" cy="4290249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tx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11048941" cy="323634"/>
          </a:xfrm>
        </p:spPr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11048940" cy="553820"/>
          </a:xfrm>
        </p:spPr>
        <p:txBody>
          <a:bodyPr anchor="t"/>
          <a:lstStyle>
            <a:lvl1pPr>
              <a:defRPr sz="40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11048941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500332"/>
            <a:ext cx="11048941" cy="4290249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bg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11048941" cy="32363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r internal use only.&#10;">
            <a:extLst>
              <a:ext uri="{FF2B5EF4-FFF2-40B4-BE49-F238E27FC236}">
                <a16:creationId xmlns:a16="http://schemas.microsoft.com/office/drawing/2014/main" id="{B6CDA874-8511-F99F-B35F-8E66591B4A24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189069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C32ACDB-F9F3-C8EC-A524-66F0FDB7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744926"/>
            <a:ext cx="4898753" cy="553820"/>
          </a:xfrm>
        </p:spPr>
        <p:txBody>
          <a:bodyPr anchor="t"/>
          <a:lstStyle>
            <a:lvl1pPr>
              <a:defRPr sz="40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274901"/>
            <a:ext cx="4898753" cy="340750"/>
          </a:xfrm>
          <a:ln w="12700">
            <a:miter lim="400000"/>
          </a:ln>
        </p:spPr>
        <p:txBody>
          <a:bodyPr lIns="0" tIns="0" rIns="0" bIns="0" anchor="b">
            <a:noAutofit/>
          </a:bodyPr>
          <a:lstStyle>
            <a:lvl1pPr>
              <a:defRPr lang="en-US" sz="1400" b="1" i="0" spc="150" baseline="0" smtClean="0">
                <a:solidFill>
                  <a:schemeClr val="accent4"/>
                </a:solidFill>
                <a:latin typeface="AvenirNext LT Com Regular" panose="020B0503020202020204" pitchFamily="34" charset="0"/>
                <a:ea typeface="+mn-ea"/>
                <a:cs typeface="+mn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>
              <a:spcAft>
                <a:spcPts val="0"/>
              </a:spcAft>
              <a:buFontTx/>
              <a:buNone/>
              <a:tabLst>
                <a:tab pos="476250" algn="l"/>
              </a:tabLst>
            </a:pPr>
            <a:r>
              <a:rPr lang="en-US" dirty="0"/>
              <a:t>SUBTITLE</a:t>
            </a:r>
          </a:p>
        </p:txBody>
      </p:sp>
      <p:sp>
        <p:nvSpPr>
          <p:cNvPr id="14" name="Body"/>
          <p:cNvSpPr>
            <a:spLocks noGrp="1"/>
          </p:cNvSpPr>
          <p:nvPr>
            <p:ph type="body" sz="quarter" idx="14"/>
          </p:nvPr>
        </p:nvSpPr>
        <p:spPr>
          <a:xfrm>
            <a:off x="576072" y="1990846"/>
            <a:ext cx="4898753" cy="3799735"/>
          </a:xfrm>
        </p:spPr>
        <p:txBody>
          <a:bodyPr/>
          <a:lstStyle>
            <a:lvl1pPr marL="290513" indent="-290513">
              <a:spcBef>
                <a:spcPts val="600"/>
              </a:spcBef>
              <a:buClr>
                <a:schemeClr val="tx1"/>
              </a:buClr>
              <a:buFont typeface="AvenirNext LT Com Medium" panose="020B0803020202020204" pitchFamily="34" charset="0"/>
              <a:buChar char="•"/>
              <a:tabLst/>
              <a:defRPr sz="2200" baseline="0">
                <a:latin typeface="AvenirNext LT Com Regular" panose="020B0503020202020204" pitchFamily="34" charset="0"/>
              </a:defRPr>
            </a:lvl1pPr>
            <a:lvl2pPr marL="8001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latin typeface="AvenirNext LT Com Regular" panose="020B0503020202020204" pitchFamily="34" charset="0"/>
              </a:defRPr>
            </a:lvl2pPr>
            <a:lvl3pPr marL="1028700" indent="-22860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baseline="0">
                <a:latin typeface="AvenirNext LT Com Regular" panose="020B0503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571498" y="5961888"/>
            <a:ext cx="4898753" cy="323634"/>
          </a:xfrm>
        </p:spPr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latin typeface="AvenirNext LT Com Regular" panose="020B0503020202020204" pitchFamily="34" charset="0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285B8B-FAD1-1FA8-46BE-6B3CF16AD9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873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-sim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6985708" cy="2387615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698570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8E7D7E0E-B9E5-A938-3F19-AC285910F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50000"/>
          <a:stretch>
            <a:fillRect/>
          </a:stretch>
        </p:blipFill>
        <p:spPr>
          <a:xfrm>
            <a:off x="4590436" y="457200"/>
            <a:ext cx="5943600" cy="594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33EBC4-625B-2611-3553-6132BC00A7F9}"/>
              </a:ext>
            </a:extLst>
          </p:cNvPr>
          <p:cNvSpPr/>
          <p:nvPr/>
        </p:nvSpPr>
        <p:spPr>
          <a:xfrm>
            <a:off x="6873396" y="5320045"/>
            <a:ext cx="1964724" cy="1537955"/>
          </a:xfrm>
          <a:prstGeom prst="rect">
            <a:avLst/>
          </a:prstGeom>
          <a:solidFill>
            <a:srgbClr val="FFFFFF">
              <a:alpha val="2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6FBFF-56F0-BD69-293B-A8F7C5D8070E}"/>
              </a:ext>
            </a:extLst>
          </p:cNvPr>
          <p:cNvSpPr/>
          <p:nvPr/>
        </p:nvSpPr>
        <p:spPr>
          <a:xfrm>
            <a:off x="8550876" y="815546"/>
            <a:ext cx="2483708" cy="2483708"/>
          </a:xfrm>
          <a:prstGeom prst="rect">
            <a:avLst/>
          </a:prstGeom>
          <a:noFill/>
          <a:ln w="1905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8262048" cy="2387615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826204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913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ivider-speaker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8E7D7E0E-B9E5-A938-3F19-AC285910F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5" r="50000"/>
          <a:stretch>
            <a:fillRect/>
          </a:stretch>
        </p:blipFill>
        <p:spPr>
          <a:xfrm>
            <a:off x="4590436" y="457200"/>
            <a:ext cx="5943600" cy="594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33EBC4-625B-2611-3553-6132BC00A7F9}"/>
              </a:ext>
            </a:extLst>
          </p:cNvPr>
          <p:cNvSpPr/>
          <p:nvPr/>
        </p:nvSpPr>
        <p:spPr>
          <a:xfrm>
            <a:off x="6873396" y="5320045"/>
            <a:ext cx="1964724" cy="1537955"/>
          </a:xfrm>
          <a:prstGeom prst="rect">
            <a:avLst/>
          </a:prstGeom>
          <a:solidFill>
            <a:srgbClr val="FFFFFF">
              <a:alpha val="2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6FBFF-56F0-BD69-293B-A8F7C5D8070E}"/>
              </a:ext>
            </a:extLst>
          </p:cNvPr>
          <p:cNvSpPr/>
          <p:nvPr/>
        </p:nvSpPr>
        <p:spPr>
          <a:xfrm>
            <a:off x="8550876" y="815546"/>
            <a:ext cx="2483708" cy="2483708"/>
          </a:xfrm>
          <a:prstGeom prst="rect">
            <a:avLst/>
          </a:prstGeom>
          <a:noFill/>
          <a:ln w="1905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91440" rIns="91440" bIns="9144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venirNext LT Com Regular" panose="020B0503020202020204" pitchFamily="34" charset="0"/>
              <a:sym typeface="Avenir Next LT Com Regular"/>
            </a:endParaRPr>
          </a:p>
        </p:txBody>
      </p:sp>
      <p:sp>
        <p:nvSpPr>
          <p:cNvPr id="432" name="Title Text"/>
          <p:cNvSpPr txBox="1">
            <a:spLocks noGrp="1"/>
          </p:cNvSpPr>
          <p:nvPr>
            <p:ph type="title"/>
          </p:nvPr>
        </p:nvSpPr>
        <p:spPr>
          <a:xfrm>
            <a:off x="576072" y="2932430"/>
            <a:ext cx="8262048" cy="193008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spcAft>
                <a:spcPts val="1200"/>
              </a:spcAft>
              <a:defRPr sz="6600" b="1" i="0" spc="-72">
                <a:solidFill>
                  <a:srgbClr val="FFFFFF"/>
                </a:solidFill>
                <a:latin typeface="AvenirNext LT Com Regular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2437687"/>
            <a:ext cx="8262048" cy="3690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400" b="1" i="0" spc="20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A9A17E-CB47-2010-18F2-C854B06CF6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6072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4FF7A54F-7C7C-B52A-D5DB-8D552F860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6073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17116DA-8384-06C8-A8A6-C99C532DB7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42231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7428B318-2BAD-E383-A4E5-8FA0C22431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2232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FD8EBD6-7756-85BD-5CA3-7AC2C39371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508389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10472EA7-EECF-FBF0-1105-65DBE814DF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8390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4BD02B85-18F2-B57E-A52A-8A9963D6F34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74547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C0CD0DC0-E49E-B6EB-2209-ADB47EAD0C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4548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3180EDE0-A667-38B0-28AA-0386F2F8C6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40705" y="4988243"/>
            <a:ext cx="769938" cy="7699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D8E276F1-51C7-E19E-49B1-6FC805060B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0706" y="5883910"/>
            <a:ext cx="769937" cy="3690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76250" algn="l"/>
              </a:tabLst>
              <a:defRPr sz="1050" b="0" i="0" spc="0" baseline="0">
                <a:solidFill>
                  <a:schemeClr val="bg1"/>
                </a:solidFill>
                <a:latin typeface="AvenirNext LT Com Regular" panose="020B0503020202020204" pitchFamily="34" charset="0"/>
                <a:ea typeface="+mn-ea"/>
                <a:cs typeface="+mn-cs"/>
                <a:sym typeface="Avenir Next LT Com Demi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669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lobal-tech-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gradient&#10;&#10;AI-generated content may be incorrect.">
            <a:extLst>
              <a:ext uri="{FF2B5EF4-FFF2-40B4-BE49-F238E27FC236}">
                <a16:creationId xmlns:a16="http://schemas.microsoft.com/office/drawing/2014/main" id="{A85A1369-2292-56E0-B21C-9655C268D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10" b="36393"/>
          <a:stretch>
            <a:fillRect/>
          </a:stretch>
        </p:blipFill>
        <p:spPr>
          <a:xfrm>
            <a:off x="-1" y="6199873"/>
            <a:ext cx="12192001" cy="658127"/>
          </a:xfrm>
          <a:prstGeom prst="rect">
            <a:avLst/>
          </a:prstGeom>
        </p:spPr>
      </p:pic>
      <p:sp>
        <p:nvSpPr>
          <p:cNvPr id="25" name="For internal use only.&#10;">
            <a:extLst>
              <a:ext uri="{FF2B5EF4-FFF2-40B4-BE49-F238E27FC236}">
                <a16:creationId xmlns:a16="http://schemas.microsoft.com/office/drawing/2014/main" id="{15ABCACB-4CAD-8422-F926-C67EE601CF2B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bg1"/>
                </a:solidFill>
                <a:latin typeface="+mn-lt"/>
              </a:rPr>
              <a:t>For internal use only.</a:t>
            </a:r>
          </a:p>
        </p:txBody>
      </p:sp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08857" y="6464054"/>
            <a:ext cx="711647" cy="126509"/>
          </a:xfrm>
          <a:prstGeom prst="rect">
            <a:avLst/>
          </a:prstGeo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A5EEE3AB-7ECC-E17D-3FA1-66482B352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1" y="386870"/>
            <a:ext cx="1442428" cy="144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2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CE0A-331E-BA74-15BF-B0DE4FA41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307E-CD59-208C-EF9C-8CB123586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591CF-3B3D-7E2A-3FD3-60A66510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E8081-83DF-7C46-9B10-EAC323AE2A5B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36F68-EDC9-A342-8DE6-68FE8D83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6AFF-A825-9780-BC65-3206749E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576072" y="15240"/>
            <a:ext cx="11048940" cy="8229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b" anchorCtr="0"/>
          <a:lstStyle/>
          <a:p>
            <a:pPr lvl="0" fontAlgn="auto" hangingPunct="1"/>
            <a:r>
              <a:rPr dirty="0"/>
              <a:t>Title</a:t>
            </a:r>
          </a:p>
        </p:txBody>
      </p:sp>
      <p:sp>
        <p:nvSpPr>
          <p:cNvPr id="8" name="Body"/>
          <p:cNvSpPr txBox="1">
            <a:spLocks noGrp="1"/>
          </p:cNvSpPr>
          <p:nvPr>
            <p:ph type="body" idx="1"/>
          </p:nvPr>
        </p:nvSpPr>
        <p:spPr>
          <a:xfrm>
            <a:off x="576072" y="1028700"/>
            <a:ext cx="11048940" cy="4514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76072" y="5961888"/>
            <a:ext cx="11048940" cy="32363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spcAft>
                <a:spcPts val="300"/>
              </a:spcAft>
              <a:defRPr lang="en-US" sz="800" spc="0" baseline="0" dirty="0">
                <a:solidFill>
                  <a:schemeClr val="tx1"/>
                </a:solidFill>
                <a:latin typeface="+mn-lt"/>
                <a:ea typeface="AvenirNext LT Com Regular" panose="020B0503020202020204" pitchFamily="34" charset="0"/>
                <a:cs typeface="AvenirNext LT Com Regular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r internal use only.&#10;">
            <a:extLst>
              <a:ext uri="{FF2B5EF4-FFF2-40B4-BE49-F238E27FC236}">
                <a16:creationId xmlns:a16="http://schemas.microsoft.com/office/drawing/2014/main" id="{36E78095-B0B4-D449-45C5-E93639EA1778}"/>
              </a:ext>
            </a:extLst>
          </p:cNvPr>
          <p:cNvSpPr txBox="1"/>
          <p:nvPr/>
        </p:nvSpPr>
        <p:spPr>
          <a:xfrm>
            <a:off x="576072" y="6464054"/>
            <a:ext cx="3764280" cy="126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 anchorCtr="0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800">
                <a:solidFill>
                  <a:srgbClr val="7D726D"/>
                </a:solidFill>
                <a:latin typeface="+mn-lt"/>
              </a:defRPr>
            </a:lvl1pPr>
          </a:lstStyle>
          <a:p>
            <a:pPr lvl="0"/>
            <a:r>
              <a:rPr lang="en-US" spc="0" baseline="0" dirty="0">
                <a:solidFill>
                  <a:schemeClr val="tx1"/>
                </a:solidFill>
                <a:latin typeface="+mn-lt"/>
              </a:rPr>
              <a:t>For internal use only.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4"/>
          </p:nvPr>
        </p:nvSpPr>
        <p:spPr>
          <a:xfrm>
            <a:off x="10908792" y="6464054"/>
            <a:ext cx="711647" cy="1265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lang="en-US" sz="800" spc="0" baseline="0" smtClean="0">
                <a:solidFill>
                  <a:schemeClr val="tx1"/>
                </a:solidFill>
                <a:latin typeface="+mn-lt"/>
              </a:defRPr>
            </a:lvl1pPr>
          </a:lstStyle>
          <a:p>
            <a:fld id="{0BC167DD-A729-D947-B991-0BC6E90F3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2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/>
  <p:txStyles>
    <p:titleStyle>
      <a:lvl1pPr marL="0" marR="0" indent="0" algn="l" defTabSz="228600" rtl="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kumimoji="0" sz="2800" b="1" i="0" u="none" strike="noStrike" cap="none" spc="0" normalizeH="0" baseline="0" dirty="0">
          <a:ln>
            <a:noFill/>
          </a:ln>
          <a:solidFill>
            <a:schemeClr val="tx2"/>
          </a:solidFill>
          <a:effectLst/>
          <a:uFillTx/>
          <a:latin typeface="AvenirNext LT Com Regular" panose="020B0503020202020204" pitchFamily="34" charset="0"/>
          <a:ea typeface="+mn-ea"/>
          <a:cs typeface="+mn-cs"/>
          <a:sym typeface="Avenir Next LT Com Regular"/>
        </a:defRPr>
      </a:lvl1pPr>
      <a:lvl2pPr marL="0" marR="0" indent="1143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2pPr>
      <a:lvl3pPr marL="0" marR="0" indent="2286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5pPr>
      <a:lvl6pPr marL="0" marR="0" indent="5715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6pPr>
      <a:lvl7pPr marL="0" marR="0" indent="6858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7pPr>
      <a:lvl8pPr marL="0" marR="0" indent="8001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8pPr>
      <a:lvl9pPr marL="0" marR="0" indent="914400" algn="l" defTabSz="2286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76250" algn="l"/>
        </a:tabLst>
        <a:defRPr sz="4800" b="0" i="0" u="none" strike="noStrike" cap="none" spc="-48" baseline="0">
          <a:ln>
            <a:noFill/>
          </a:ln>
          <a:solidFill>
            <a:schemeClr val="accent1">
              <a:hueOff val="-456960"/>
              <a:satOff val="56070"/>
              <a:lumOff val="-35771"/>
            </a:schemeClr>
          </a:solidFill>
          <a:uFillTx/>
          <a:latin typeface="+mn-lt"/>
          <a:ea typeface="+mn-ea"/>
          <a:cs typeface="+mn-cs"/>
          <a:sym typeface="Avenir Next LT Com Demi"/>
        </a:defRPr>
      </a:lvl9pPr>
    </p:titleStyle>
    <p:bodyStyle>
      <a:lvl1pPr marL="0" marR="0" indent="0" algn="l" defTabSz="228600" rtl="0" eaLnBrk="1" latinLnBrk="0" hangingPunct="1">
        <a:lnSpc>
          <a:spcPct val="100000"/>
        </a:lnSpc>
        <a:spcBef>
          <a:spcPts val="600"/>
        </a:spcBef>
        <a:spcAft>
          <a:spcPts val="1800"/>
        </a:spcAft>
        <a:buClrTx/>
        <a:buSzTx/>
        <a:buFont typeface="AvenirNext LT Com Medium" panose="020B0803020202020204" pitchFamily="34" charset="0"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1pPr>
      <a:lvl2pPr marL="284162" marR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 typeface="Arial" panose="020B0604020202020204" pitchFamily="34" charset="0"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2pPr>
      <a:lvl3pPr marL="569913" marR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 typeface="Arial" panose="020B0604020202020204" pitchFamily="34" charset="0"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3pPr>
      <a:lvl4pPr marL="0" marR="0" indent="3429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4pPr>
      <a:lvl5pPr marL="0" marR="0" indent="457200" algn="l" defTabSz="2286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Next LT Com Regular" panose="020B0503020202020204" pitchFamily="34" charset="0"/>
          <a:ea typeface="AvenirNext LT Com Regular" panose="020B0503020202020204" pitchFamily="34" charset="0"/>
          <a:cs typeface="AvenirNext LT Com Regular" panose="020B0503020202020204" pitchFamily="34" charset="0"/>
          <a:sym typeface="Avenir Next LT Com Regular"/>
        </a:defRPr>
      </a:lvl5pPr>
      <a:lvl6pPr marL="0" marR="0" indent="5715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6pPr>
      <a:lvl7pPr marL="0" marR="0" indent="6858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7pPr>
      <a:lvl8pPr marL="0" marR="0" indent="8001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8pPr>
      <a:lvl9pPr marL="0" marR="0" indent="914400" algn="l" defTabSz="2286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 LT Com Regular"/>
          <a:ea typeface="Avenir Next LT Com Regular"/>
          <a:cs typeface="Avenir Next LT Com Regular"/>
          <a:sym typeface="Avenir Next LT Com Regular"/>
        </a:defRPr>
      </a:lvl9pPr>
    </p:bodyStyle>
    <p:otherStyle>
      <a:lvl1pPr marL="0" marR="0" indent="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1pPr>
      <a:lvl2pPr marL="0" marR="0" indent="1143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2pPr>
      <a:lvl3pPr marL="0" marR="0" indent="2286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3pPr>
      <a:lvl4pPr marL="0" marR="0" indent="3429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4pPr>
      <a:lvl5pPr marL="0" marR="0" indent="4572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5pPr>
      <a:lvl6pPr marL="0" marR="0" indent="5715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6pPr>
      <a:lvl7pPr marL="0" marR="0" indent="6858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7pPr>
      <a:lvl8pPr marL="0" marR="0" indent="8001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8pPr>
      <a:lvl9pPr marL="0" marR="0" indent="914400" algn="r" defTabSz="22860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Next LT Com Regular"/>
        </a:defRPr>
      </a:lvl9pPr>
    </p:otherStyle>
  </p:txStyles>
  <p:extLst>
    <p:ext uri="{27BBF7A9-308A-43DC-89C8-2F10F3537804}">
      <p15:sldGuideLst xmlns:p15="http://schemas.microsoft.com/office/powerpoint/2012/main">
        <p15:guide id="21" pos="360">
          <p15:clr>
            <a:srgbClr val="F26B43"/>
          </p15:clr>
        </p15:guide>
        <p15:guide id="22" pos="7320">
          <p15:clr>
            <a:srgbClr val="F26B43"/>
          </p15:clr>
        </p15:guide>
        <p15:guide id="23" orient="horz" pos="528">
          <p15:clr>
            <a:srgbClr val="F26B43"/>
          </p15:clr>
        </p15:guide>
        <p15:guide id="24" orient="horz" pos="3936">
          <p15:clr>
            <a:srgbClr val="F26B43"/>
          </p15:clr>
        </p15:guide>
        <p15:guide id="25" orient="horz" pos="648">
          <p15:clr>
            <a:srgbClr val="F26B43"/>
          </p15:clr>
        </p15:guide>
        <p15:guide id="26" pos="1368">
          <p15:clr>
            <a:srgbClr val="F26B43"/>
          </p15:clr>
        </p15:guide>
        <p15:guide id="27" pos="1560">
          <p15:clr>
            <a:srgbClr val="F26B43"/>
          </p15:clr>
        </p15:guide>
        <p15:guide id="28" pos="2544">
          <p15:clr>
            <a:srgbClr val="F26B43"/>
          </p15:clr>
        </p15:guide>
        <p15:guide id="29" pos="2736">
          <p15:clr>
            <a:srgbClr val="F26B43"/>
          </p15:clr>
        </p15:guide>
        <p15:guide id="30" pos="3744">
          <p15:clr>
            <a:srgbClr val="F26B43"/>
          </p15:clr>
        </p15:guide>
        <p15:guide id="31" pos="3936">
          <p15:clr>
            <a:srgbClr val="F26B43"/>
          </p15:clr>
        </p15:guide>
        <p15:guide id="32" pos="4920">
          <p15:clr>
            <a:srgbClr val="F26B43"/>
          </p15:clr>
        </p15:guide>
        <p15:guide id="33" pos="5112">
          <p15:clr>
            <a:srgbClr val="F26B43"/>
          </p15:clr>
        </p15:guide>
        <p15:guide id="34" pos="6120">
          <p15:clr>
            <a:srgbClr val="F26B43"/>
          </p15:clr>
        </p15:guide>
        <p15:guide id="35" pos="6312">
          <p15:clr>
            <a:srgbClr val="F26B43"/>
          </p15:clr>
        </p15:guide>
        <p15:guide id="36" orient="horz" pos="2160">
          <p15:clr>
            <a:srgbClr val="F26B43"/>
          </p15:clr>
        </p15:guide>
        <p15:guide id="37" orient="horz" pos="23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pgroup.sharepoint.com/_layouts/15/Doc.aspx?sourcedoc=%7BB7FDC5CB-89CE-48B1-8F4B-54FD8448A97B%7D&amp;file=Helix%20is%20Capital%20Group%27s%20new%20integrated%20cloud%20platform.docx&amp;action=default&amp;mobileredirect=true&amp;DefaultItemOpen=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ABB9-103B-0C49-D48B-F0EF8C9C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32" y="2622303"/>
            <a:ext cx="9430958" cy="2301964"/>
          </a:xfrm>
        </p:spPr>
        <p:txBody>
          <a:bodyPr anchor="t">
            <a:normAutofit/>
          </a:bodyPr>
          <a:lstStyle/>
          <a:p>
            <a:r>
              <a:rPr lang="en-US" dirty="0"/>
              <a:t>Agentic Architecture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07F78-E2E8-9C71-F1F1-E8491524F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0732" y="5329915"/>
            <a:ext cx="9430958" cy="10503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Draft – For Discussion Purposes Only</a:t>
            </a:r>
          </a:p>
        </p:txBody>
      </p:sp>
    </p:spTree>
    <p:extLst>
      <p:ext uri="{BB962C8B-B14F-4D97-AF65-F5344CB8AC3E}">
        <p14:creationId xmlns:p14="http://schemas.microsoft.com/office/powerpoint/2010/main" val="63060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10AF-D47A-39FB-31A3-F5335284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Helix Vision &amp; Philosophy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D86F-AC73-2FD3-D06F-92C00BF12D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9721C-A54B-EDC8-7A42-35EA101E7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dirty="0"/>
              <a:t>Helix is Capital Group’s AWS‑based integrated cloud platform that delivers a first‑class developer experience through built‑in security, everything‑as‑code, flexible design, and a cohesive suite of platform services.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1" dirty="0"/>
              <a:t>Vision - </a:t>
            </a:r>
            <a:r>
              <a:rPr lang="en-US" sz="1100" dirty="0"/>
              <a:t>Helix is described as </a:t>
            </a:r>
            <a:r>
              <a:rPr lang="en-US" sz="1100" b="1" dirty="0"/>
              <a:t>“the cloud reimagined”</a:t>
            </a:r>
            <a:r>
              <a:rPr lang="en-US" sz="1100" dirty="0"/>
              <a:t>: a single, streamlined platform where the complexity of modern cloud application development is abstracted away. The vision emphasizes:</a:t>
            </a:r>
          </a:p>
          <a:p>
            <a:pPr lvl="1">
              <a:spcAft>
                <a:spcPts val="600"/>
              </a:spcAft>
            </a:pPr>
            <a:r>
              <a:rPr lang="en-US" sz="1100" dirty="0"/>
              <a:t>Empowering </a:t>
            </a:r>
            <a:r>
              <a:rPr lang="en-US" sz="1100" b="1" dirty="0"/>
              <a:t>rapid development without cognitive burden</a:t>
            </a:r>
            <a:endParaRPr lang="en-US" sz="1100" dirty="0"/>
          </a:p>
          <a:p>
            <a:pPr lvl="1">
              <a:spcAft>
                <a:spcPts val="600"/>
              </a:spcAft>
            </a:pPr>
            <a:r>
              <a:rPr lang="en-US" sz="1100" dirty="0"/>
              <a:t>Making </a:t>
            </a:r>
            <a:r>
              <a:rPr lang="en-US" sz="1100" b="1" dirty="0"/>
              <a:t>security, observability, and resiliency foundational</a:t>
            </a:r>
            <a:endParaRPr lang="en-US" sz="1100" dirty="0"/>
          </a:p>
          <a:p>
            <a:pPr lvl="1">
              <a:spcAft>
                <a:spcPts val="600"/>
              </a:spcAft>
            </a:pPr>
            <a:r>
              <a:rPr lang="en-US" sz="1100" dirty="0"/>
              <a:t>Enabling developers to build applications that are both </a:t>
            </a:r>
            <a:r>
              <a:rPr lang="en-US" sz="1100" b="1" dirty="0"/>
              <a:t>innovative and resilient</a:t>
            </a:r>
          </a:p>
          <a:p>
            <a:pPr lvl="1"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1" dirty="0"/>
              <a:t>Design Philosophy – </a:t>
            </a:r>
            <a:r>
              <a:rPr lang="en-US" sz="1100" dirty="0"/>
              <a:t>Helix is designed around four explicit core principles: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Developer Experience</a:t>
            </a:r>
            <a:r>
              <a:rPr lang="en-US" sz="1100" dirty="0"/>
              <a:t> - Developers should focus on building applications, not on environment setup or figuring out security and resiliency concerns.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Security</a:t>
            </a:r>
            <a:r>
              <a:rPr lang="en-US" sz="1100" dirty="0"/>
              <a:t> - Security is a top priority. Helix commits to best practices and provides tools and services to help developers build secure applications.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Everything‑as‑Code</a:t>
            </a:r>
            <a:r>
              <a:rPr lang="en-US" sz="1100" dirty="0"/>
              <a:t> - Application logic, infrastructure, pipelines, and documentation are defined as version‑controlled artifacts, enabling automation, collaboration, and use of familiar developer workflows.</a:t>
            </a:r>
          </a:p>
          <a:p>
            <a:pPr lvl="1">
              <a:spcAft>
                <a:spcPts val="600"/>
              </a:spcAft>
            </a:pPr>
            <a:r>
              <a:rPr lang="en-US" sz="1100" b="1" dirty="0"/>
              <a:t>Flexibility</a:t>
            </a:r>
            <a:r>
              <a:rPr lang="en-US" sz="1100" dirty="0"/>
              <a:t> - Common tasks are made easy while still allowing room for innovation and customization.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dirty="0"/>
              <a:t>The information above is based on the </a:t>
            </a:r>
            <a:r>
              <a:rPr lang="en-US" sz="1100" dirty="0">
                <a:hlinkClick r:id="rId2"/>
              </a:rPr>
              <a:t>Helix Vision &amp; Philosophy</a:t>
            </a:r>
            <a:endParaRPr lang="en-US" sz="11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935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49D5-52A5-B98A-8A68-6C213550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Archetypes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89466-2936-6095-F450-18CDCB4A08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With Sub-Type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8ED587-F2E7-DFCC-9D8B-108BE32F0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90701"/>
              </p:ext>
            </p:extLst>
          </p:nvPr>
        </p:nvGraphicFramePr>
        <p:xfrm>
          <a:off x="554736" y="1428021"/>
          <a:ext cx="11070276" cy="4688978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231124">
                  <a:extLst>
                    <a:ext uri="{9D8B030D-6E8A-4147-A177-3AD203B41FA5}">
                      <a16:colId xmlns:a16="http://schemas.microsoft.com/office/drawing/2014/main" val="2801350501"/>
                    </a:ext>
                  </a:extLst>
                </a:gridCol>
                <a:gridCol w="347484">
                  <a:extLst>
                    <a:ext uri="{9D8B030D-6E8A-4147-A177-3AD203B41FA5}">
                      <a16:colId xmlns:a16="http://schemas.microsoft.com/office/drawing/2014/main" val="622429305"/>
                    </a:ext>
                  </a:extLst>
                </a:gridCol>
                <a:gridCol w="1853184">
                  <a:extLst>
                    <a:ext uri="{9D8B030D-6E8A-4147-A177-3AD203B41FA5}">
                      <a16:colId xmlns:a16="http://schemas.microsoft.com/office/drawing/2014/main" val="646194348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097643752"/>
                    </a:ext>
                  </a:extLst>
                </a:gridCol>
                <a:gridCol w="3407604">
                  <a:extLst>
                    <a:ext uri="{9D8B030D-6E8A-4147-A177-3AD203B41FA5}">
                      <a16:colId xmlns:a16="http://schemas.microsoft.com/office/drawing/2014/main" val="3123716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Core Job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Sub-types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606949138"/>
                  </a:ext>
                </a:extLst>
              </a:tr>
              <a:tr h="400125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 ·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Content Generation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Create or rewrite content — text, code, images, audio, video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Text generation · Image/video/audio generation · Template &amp; draft creation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575617573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Summarization &amp; Extraction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Condense information or extract structured data from unstructured inputs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Text transformation · Document analysis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794317522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Grounded Q&amp;A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Answer questions from a curated knowledge base with citations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Knowledge-base Q&amp;A · Explanation &amp; education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167887474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Research &amp; Synthesis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Produce analytical artifacts by synthesizing information from many sources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Multi-source retrieval &amp; synthesis · Research assistance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994756360"/>
                  </a:ext>
                </a:extLst>
              </a:tr>
              <a:tr h="316529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 · Insight &amp; Decision Intelligence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Data Interpretation &amp; Analytics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Explain trends and anomalies from structured data; trigger automated responses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Data interpretation · Dashboard narration · Automated response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885552329"/>
                  </a:ext>
                </a:extLst>
              </a:tr>
              <a:tr h="400125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Recommendation &amp; Personalization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Tailor content, workflows, or experiences to a user or context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Content personalization · Recommendation generation · Learning &amp; skill development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595887161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7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Simulation &amp; Synthetic Data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Generate datasets, scenarios, or environments for training and testing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Synthetic dataset creation · Adversarial testing · Scenario analysis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904379924"/>
                  </a:ext>
                </a:extLst>
              </a:tr>
              <a:tr h="316529">
                <a:tc row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 ·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Software Dev Acceleration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Assist with coding, testing, review, and debugging across the SDLC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Code generation · Code review · Refactoring · Doc generation · Debugging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7990497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9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Structured Workflow Automation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Automate deterministic business processes using GenAI for NLU/NLG steps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Workflow automation · Writing assistance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4185201649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Agentic Task Automation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Plan and execute multi-step, dynamic tasks by orchestrating tools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Interactive task execution · Autonomous agents · Personal productivity agents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223328830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Ops &amp; Monitoring Copilot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Monitor signals, diagnose issues, and suggest or take controlled remediation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Proactive system monitoring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596225126"/>
                  </a:ext>
                </a:extLst>
              </a:tr>
              <a:tr h="316529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12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AI Governance &amp; Assurance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Support GRC: policy checks, control testing, audit evidence gathering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Risk assessment · Legal &amp; compliance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3353013551"/>
                  </a:ext>
                </a:extLst>
              </a:tr>
              <a:tr h="400125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13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Conversational Agent</a:t>
                      </a:r>
                      <a:endParaRPr lang="en-US" sz="800">
                        <a:effectLst/>
                      </a:endParaRP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Conduct sustained, goal-directed conversations for support, sales, coaching, or advisory</a:t>
                      </a:r>
                    </a:p>
                  </a:txBody>
                  <a:tcPr marL="77183" marR="77183" marT="35623" marB="3562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Customer support · Sales &amp; advisory · Coaching &amp; mentoring · Onboarding · Escalation management</a:t>
                      </a:r>
                    </a:p>
                  </a:txBody>
                  <a:tcPr marL="77183" marR="77183" marT="35623" marB="35623" anchor="ctr"/>
                </a:tc>
                <a:extLst>
                  <a:ext uri="{0D108BD9-81ED-4DB2-BD59-A6C34878D82A}">
                    <a16:rowId xmlns:a16="http://schemas.microsoft.com/office/drawing/2014/main" val="1706285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06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7EF-C82E-F460-3CC3-2080958C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F6870-1BBF-690C-887C-F3243B1CAF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5FD53-F389-4B3A-A6CC-947B87D03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023194"/>
              </p:ext>
            </p:extLst>
          </p:nvPr>
        </p:nvGraphicFramePr>
        <p:xfrm>
          <a:off x="1915259" y="2613472"/>
          <a:ext cx="8361481" cy="163105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08019">
                  <a:extLst>
                    <a:ext uri="{9D8B030D-6E8A-4147-A177-3AD203B41FA5}">
                      <a16:colId xmlns:a16="http://schemas.microsoft.com/office/drawing/2014/main" val="2160166563"/>
                    </a:ext>
                  </a:extLst>
                </a:gridCol>
                <a:gridCol w="3105642">
                  <a:extLst>
                    <a:ext uri="{9D8B030D-6E8A-4147-A177-3AD203B41FA5}">
                      <a16:colId xmlns:a16="http://schemas.microsoft.com/office/drawing/2014/main" val="4075413887"/>
                    </a:ext>
                  </a:extLst>
                </a:gridCol>
                <a:gridCol w="4047820">
                  <a:extLst>
                    <a:ext uri="{9D8B030D-6E8A-4147-A177-3AD203B41FA5}">
                      <a16:colId xmlns:a16="http://schemas.microsoft.com/office/drawing/2014/main" val="540687927"/>
                    </a:ext>
                  </a:extLst>
                </a:gridCol>
              </a:tblGrid>
              <a:tr h="189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Pattern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Mechanism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34611055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Sequential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Output of A feeds input of B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Research &amp; Synthesis → Content Generation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10759717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Parallel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Two archetypes run on the same context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Ops Copilot ∥ Data Interpretation &amp; Analytics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24478525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Nested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Outer archetype delegates to inner as sub-tasks</a:t>
                      </a:r>
                    </a:p>
                  </a:txBody>
                  <a:tcPr marL="111780" marR="111780" marT="51591" marB="515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Agentic Task Automation → Grounded Q&amp;A + Summarization &amp; Extraction + Structured Workflow</a:t>
                      </a:r>
                    </a:p>
                  </a:txBody>
                  <a:tcPr marL="111780" marR="111780" marT="51591" marB="51591" anchor="ctr"/>
                </a:tc>
                <a:extLst>
                  <a:ext uri="{0D108BD9-81ED-4DB2-BD59-A6C34878D82A}">
                    <a16:rowId xmlns:a16="http://schemas.microsoft.com/office/drawing/2014/main" val="17460805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E3E8B9-3C3B-F873-8763-423BF8BC9C7F}"/>
              </a:ext>
            </a:extLst>
          </p:cNvPr>
          <p:cNvSpPr txBox="1"/>
          <p:nvPr/>
        </p:nvSpPr>
        <p:spPr>
          <a:xfrm>
            <a:off x="1915259" y="2260768"/>
            <a:ext cx="8361481" cy="258148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sz="1000" dirty="0">
                <a:solidFill>
                  <a:schemeClr val="tx1"/>
                </a:solidFill>
                <a:effectLst/>
                <a:latin typeface="+mn-lt"/>
              </a:rPr>
              <a:t>Real-world solutions frequently span (or be composed of) more than one archetype</a:t>
            </a:r>
          </a:p>
        </p:txBody>
      </p:sp>
    </p:spTree>
    <p:extLst>
      <p:ext uri="{BB962C8B-B14F-4D97-AF65-F5344CB8AC3E}">
        <p14:creationId xmlns:p14="http://schemas.microsoft.com/office/powerpoint/2010/main" val="29470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0EB2-8F53-4825-3E33-F5D9588E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Archetype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4203-FCFA-F0CB-9DBB-364376A54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189AB-3B65-9E9D-A458-DF8A07032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62544"/>
              </p:ext>
            </p:extLst>
          </p:nvPr>
        </p:nvGraphicFramePr>
        <p:xfrm>
          <a:off x="1309591" y="1909245"/>
          <a:ext cx="9572817" cy="420382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58984">
                  <a:extLst>
                    <a:ext uri="{9D8B030D-6E8A-4147-A177-3AD203B41FA5}">
                      <a16:colId xmlns:a16="http://schemas.microsoft.com/office/drawing/2014/main" val="4136148110"/>
                    </a:ext>
                  </a:extLst>
                </a:gridCol>
                <a:gridCol w="1940929">
                  <a:extLst>
                    <a:ext uri="{9D8B030D-6E8A-4147-A177-3AD203B41FA5}">
                      <a16:colId xmlns:a16="http://schemas.microsoft.com/office/drawing/2014/main" val="3439634077"/>
                    </a:ext>
                  </a:extLst>
                </a:gridCol>
                <a:gridCol w="6172904">
                  <a:extLst>
                    <a:ext uri="{9D8B030D-6E8A-4147-A177-3AD203B41FA5}">
                      <a16:colId xmlns:a16="http://schemas.microsoft.com/office/drawing/2014/main" val="941428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Dimension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Levels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597234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1. Interaction Model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How users and systems interact. Defines the UX and API surface.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One-shot</a:t>
                      </a:r>
                      <a:r>
                        <a:rPr lang="en-US" sz="1000" dirty="0">
                          <a:effectLst/>
                        </a:rPr>
                        <a:t>: Stateless request-response.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Conversational</a:t>
                      </a:r>
                      <a:r>
                        <a:rPr lang="en-US" sz="1000" dirty="0">
                          <a:effectLst/>
                        </a:rPr>
                        <a:t>: Multi-turn dialogue with clarification and refinement.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Batch</a:t>
                      </a:r>
                      <a:r>
                        <a:rPr lang="en-US" sz="1000" dirty="0">
                          <a:effectLst/>
                        </a:rPr>
                        <a:t>: High-volume, scheduled or triggered processing of many items — no expectation of immediate per-item response. Async delivery is inherent.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Proactive</a:t>
                      </a:r>
                      <a:r>
                        <a:rPr lang="en-US" sz="1000" dirty="0">
                          <a:effectLst/>
                        </a:rPr>
                        <a:t>: System-initiated based on triggers or observations.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API-driven</a:t>
                      </a:r>
                      <a:r>
                        <a:rPr lang="en-US" sz="1000" dirty="0">
                          <a:effectLst/>
                        </a:rPr>
                        <a:t>: Programmatic interface consumed by other systems.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3026600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2. Autonomy Level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The degree of independent action permitted. A critical control plane.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Assistive</a:t>
                      </a:r>
                      <a:r>
                        <a:rPr lang="en-US" sz="1000" b="1" dirty="0">
                          <a:effectLst/>
                        </a:rPr>
                        <a:t> (HITL for Execution)</a:t>
                      </a:r>
                      <a:r>
                        <a:rPr lang="en-US" sz="1000" dirty="0">
                          <a:effectLst/>
                        </a:rPr>
                        <a:t>: AI suggests, human executes.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Semi-Autonomous</a:t>
                      </a:r>
                      <a:r>
                        <a:rPr lang="en-US" sz="1000" b="1" dirty="0">
                          <a:effectLst/>
                        </a:rPr>
                        <a:t> (HITL for Approval)</a:t>
                      </a:r>
                      <a:r>
                        <a:rPr lang="en-US" sz="1000" dirty="0">
                          <a:effectLst/>
                        </a:rPr>
                        <a:t>: AI acts within bounds, human approves.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Fully Autonomous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1" dirty="0">
                          <a:effectLst/>
                        </a:rPr>
                        <a:t>(HITL for Audit)</a:t>
                      </a:r>
                      <a:r>
                        <a:rPr lang="en-US" sz="1000" dirty="0">
                          <a:effectLst/>
                        </a:rPr>
                        <a:t>: AI executes end-to-end, human audits.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2310671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3. Grounding Strategy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How the system ensures factual accuracy and relevance.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Ungrounded</a:t>
                      </a:r>
                      <a:r>
                        <a:rPr lang="en-US" sz="1000" dirty="0">
                          <a:effectLst/>
                        </a:rPr>
                        <a:t>: Model's pre-trained knowledge only.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Curated Grounding (RAG)</a:t>
                      </a:r>
                      <a:r>
                        <a:rPr lang="en-US" sz="1000" dirty="0">
                          <a:effectLst/>
                        </a:rPr>
                        <a:t>: Augmented with a specific knowledge base.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Live Grounding (Tool Use)</a:t>
                      </a:r>
                      <a:r>
                        <a:rPr lang="en-US" sz="1000" dirty="0">
                          <a:effectLst/>
                        </a:rPr>
                        <a:t>: Real-time data via tools, APIs, databases.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41649419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4. Governance Posture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effectLst/>
                        </a:rPr>
                        <a:t>Required level of risk management, compliance, and oversight.</a:t>
                      </a: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A set of constraints driven by the domain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Data handling (PII, PHI, sensitive data)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Auditability (logging depth, traceability)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effectLst/>
                        </a:rPr>
                        <a:t>Safety &amp; compliance (filters, regulations, standards)</a:t>
                      </a:r>
                    </a:p>
                  </a:txBody>
                  <a:tcPr marL="123825" marR="123825" marT="57150" marB="57150"/>
                </a:tc>
                <a:extLst>
                  <a:ext uri="{0D108BD9-81ED-4DB2-BD59-A6C34878D82A}">
                    <a16:rowId xmlns:a16="http://schemas.microsoft.com/office/drawing/2014/main" val="8503300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369627-1C3E-0E5C-F57C-A7CF842E461F}"/>
              </a:ext>
            </a:extLst>
          </p:cNvPr>
          <p:cNvSpPr txBox="1"/>
          <p:nvPr/>
        </p:nvSpPr>
        <p:spPr>
          <a:xfrm>
            <a:off x="1309590" y="1428021"/>
            <a:ext cx="9572817" cy="43922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+mn-lt"/>
              </a:rPr>
              <a:t>Use these four dimensions to characterize how it will be implemented. The same archetype can be realized in very different ways depending on the choices made here.</a:t>
            </a:r>
          </a:p>
        </p:txBody>
      </p:sp>
    </p:spTree>
    <p:extLst>
      <p:ext uri="{BB962C8B-B14F-4D97-AF65-F5344CB8AC3E}">
        <p14:creationId xmlns:p14="http://schemas.microsoft.com/office/powerpoint/2010/main" val="7974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89EA-12B2-B340-A74E-E5E2E8EB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&amp;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DA07E-F76E-3455-6D4D-F317CC372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DB30E-E492-3C82-C742-04DAB639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76" y="1428021"/>
            <a:ext cx="4908848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1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EAA4-BDEA-F496-7346-9B59752F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Technical Components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B753C-4F9D-25A5-600D-A873E8243C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1D1E0-D385-C1F7-6F89-0722ECFCD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83" y="1428021"/>
            <a:ext cx="4338086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1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E642-C1B8-E461-6862-FD9AD2E9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A4411-898A-1CA4-D4B6-D517B18DAD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27949-2858-3BF9-3B06-70E08E1E9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39816"/>
              </p:ext>
            </p:extLst>
          </p:nvPr>
        </p:nvGraphicFramePr>
        <p:xfrm>
          <a:off x="966788" y="1592658"/>
          <a:ext cx="10258424" cy="136042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564606">
                  <a:extLst>
                    <a:ext uri="{9D8B030D-6E8A-4147-A177-3AD203B41FA5}">
                      <a16:colId xmlns:a16="http://schemas.microsoft.com/office/drawing/2014/main" val="2957566468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231949896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1066253472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389386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Maturity Layer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Focus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Implementation Tiers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Key Characteristics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0573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1: Foundation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Reliable Text &amp; Data Access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T1 (Basic)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T2 (Enhanced)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Single LLM calls, Zero/Few-shot prompts, Standard RAG, Basic memory.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6572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2: Capability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State, Memory &amp; Action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T3 (Orchestrated)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Multi-step workflows, Function calling, Tool use, Structured reasoning chains.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02179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Layer 3: Autonomy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Collaboration &amp; Self-Improvement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T4 (Agentic)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Autonomous planning, Multi-agent collaboration, Self-correction, Episodic memory.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525909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48F8A0-A560-FC09-E2A3-C47E5FCA0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7842"/>
              </p:ext>
            </p:extLst>
          </p:nvPr>
        </p:nvGraphicFramePr>
        <p:xfrm>
          <a:off x="966787" y="3277858"/>
          <a:ext cx="10258425" cy="173412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664628815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34359301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3040055684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1234314534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1626278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Tier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Characteristics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Typical Components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54081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T1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Basic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Single LLM call, no external data, minimal orchestration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Prompting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Simple Q&amp;A chatbot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233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T2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Enhanced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RAG integration, basic memory, structured output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RAG + Output Parsing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Knowledge base assistant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24533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T3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Orchestrated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Multi-step workflows, tool use, conditional logic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+ RAG + Tools + Orchestration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Research assistant with web search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7815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T4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Agentic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Autonomous planning, multi-agent, complex reasoning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Full stack including agents, memory, multi-tool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Autonomous coding assistant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348716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843D79-1B1F-D2D0-E905-9150A762BAC4}"/>
              </a:ext>
            </a:extLst>
          </p:cNvPr>
          <p:cNvSpPr txBox="1"/>
          <p:nvPr/>
        </p:nvSpPr>
        <p:spPr>
          <a:xfrm>
            <a:off x="5937662" y="493701"/>
            <a:ext cx="2761013" cy="1292662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What is the intent of this slide – how do I marry this to architecture dimensions 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Are these tiers just another dimension – </a:t>
            </a:r>
            <a:r>
              <a:rPr lang="en-US" sz="1400" b="1" dirty="0" err="1">
                <a:latin typeface="+mn-lt"/>
              </a:rPr>
              <a:t>e.g</a:t>
            </a:r>
            <a:r>
              <a:rPr lang="en-US" sz="1400" b="1" dirty="0">
                <a:latin typeface="+mn-lt"/>
              </a:rPr>
              <a:t> Agentic</a:t>
            </a:r>
          </a:p>
        </p:txBody>
      </p:sp>
    </p:spTree>
    <p:extLst>
      <p:ext uri="{BB962C8B-B14F-4D97-AF65-F5344CB8AC3E}">
        <p14:creationId xmlns:p14="http://schemas.microsoft.com/office/powerpoint/2010/main" val="133093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3833-2DFA-5B0D-905B-B912898A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GenAI Technical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AA72C-AF06-A68C-39EE-413C896A8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615087-C506-25A4-FD25-31B6B88C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4D5DE0-B28F-06C2-76FC-3555323AE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3125447-B141-3604-D5A6-EF2769567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119" y="1532542"/>
            <a:ext cx="6846455" cy="46759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6BCDA9-DF67-972D-4C24-43026986773F}"/>
              </a:ext>
            </a:extLst>
          </p:cNvPr>
          <p:cNvSpPr txBox="1"/>
          <p:nvPr/>
        </p:nvSpPr>
        <p:spPr>
          <a:xfrm>
            <a:off x="8497067" y="509143"/>
            <a:ext cx="2761013" cy="2369880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How do layers relate to tiers slide 4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I need a concise easy to understand model for the relationship of Archetype to Technical Components via complexity / capability</a:t>
            </a:r>
            <a:br>
              <a:rPr lang="en-US" sz="1400" b="1" dirty="0">
                <a:latin typeface="+mn-lt"/>
              </a:rPr>
            </a:br>
            <a:br>
              <a:rPr lang="en-US" sz="1400" b="1" dirty="0">
                <a:latin typeface="+mn-lt"/>
              </a:rPr>
            </a:br>
            <a:r>
              <a:rPr lang="en-US" sz="1400" b="1" dirty="0">
                <a:latin typeface="+mn-lt"/>
              </a:rPr>
              <a:t>This mapping should be related to effort and platforms</a:t>
            </a:r>
          </a:p>
        </p:txBody>
      </p:sp>
    </p:spTree>
    <p:extLst>
      <p:ext uri="{BB962C8B-B14F-4D97-AF65-F5344CB8AC3E}">
        <p14:creationId xmlns:p14="http://schemas.microsoft.com/office/powerpoint/2010/main" val="80970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E55A-3A33-CBEB-8B91-AA5F47E4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8AC3-DF08-240C-6FC9-C72521EA68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49E29-8C13-92A9-686E-D7BA18CBF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73079"/>
              </p:ext>
            </p:extLst>
          </p:nvPr>
        </p:nvGraphicFramePr>
        <p:xfrm>
          <a:off x="571499" y="1428021"/>
          <a:ext cx="11048939" cy="3753399"/>
        </p:xfrm>
        <a:graphic>
          <a:graphicData uri="http://schemas.openxmlformats.org/drawingml/2006/table">
            <a:tbl>
              <a:tblPr firstRow="1" bandRow="1" bandCol="1"/>
              <a:tblGrid>
                <a:gridCol w="1498258">
                  <a:extLst>
                    <a:ext uri="{9D8B030D-6E8A-4147-A177-3AD203B41FA5}">
                      <a16:colId xmlns:a16="http://schemas.microsoft.com/office/drawing/2014/main" val="3992032252"/>
                    </a:ext>
                  </a:extLst>
                </a:gridCol>
                <a:gridCol w="2674291">
                  <a:extLst>
                    <a:ext uri="{9D8B030D-6E8A-4147-A177-3AD203B41FA5}">
                      <a16:colId xmlns:a16="http://schemas.microsoft.com/office/drawing/2014/main" val="4023027926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180733081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720594882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43200468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453354619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538174666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48815330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819050215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360970342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4250159399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55110410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93347711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511640998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2352561415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1799199087"/>
                    </a:ext>
                  </a:extLst>
                </a:gridCol>
                <a:gridCol w="458426">
                  <a:extLst>
                    <a:ext uri="{9D8B030D-6E8A-4147-A177-3AD203B41FA5}">
                      <a16:colId xmlns:a16="http://schemas.microsoft.com/office/drawing/2014/main" val="3818188817"/>
                    </a:ext>
                  </a:extLst>
                </a:gridCol>
              </a:tblGrid>
              <a:tr h="10865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Archetype Group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</a:rPr>
                        <a:t>Fdn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 Models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Prompting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Retrieval (RAG)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Output Proc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Context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</a:rPr>
                        <a:t>Mgmt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Memory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Reasoning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Agents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Workflow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HITL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Safety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Eval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Infra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Obs.</a:t>
                      </a:r>
                    </a:p>
                  </a:txBody>
                  <a:tcPr marL="71355" marR="71355" marT="32933" marB="32933" vert="vert27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27509"/>
                  </a:ext>
                </a:extLst>
              </a:tr>
              <a:tr h="215308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A: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1. Content Generation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62864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2. Summarization &amp; Extraction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61299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3. Grounded Q&amp;A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751895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4. Research &amp; Synthesis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89936"/>
                  </a:ext>
                </a:extLst>
              </a:tr>
              <a:tr h="215308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B: Insight &amp; Decision Support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5. Data Interpretation &amp; Analytics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806281"/>
                  </a:ext>
                </a:extLst>
              </a:tr>
              <a:tr h="215308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6. Recommendation &amp; Personalization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656518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7. Simulation &amp; Synthetic Data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⭘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124136"/>
                  </a:ext>
                </a:extLst>
              </a:tr>
              <a:tr h="138026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C: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8. Software Development Acceleration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395754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9. Structured Workflow Automation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−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20965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10. Agentic Task Automation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91252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11. Operations &amp; Monitoring Copilot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424843"/>
                  </a:ext>
                </a:extLst>
              </a:tr>
              <a:tr h="138062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12. AI Governance &amp; Assurance</a:t>
                      </a:r>
                      <a:endParaRPr lang="en-US" sz="800" dirty="0">
                        <a:effectLst/>
                      </a:endParaRPr>
                    </a:p>
                  </a:txBody>
                  <a:tcPr marL="52618" marR="52618" marT="24285" marB="24285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◐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⬤</a:t>
                      </a:r>
                    </a:p>
                  </a:txBody>
                  <a:tcPr marL="71355" marR="71355" marT="32933" marB="329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811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B660A9-B36F-7B9D-4EFB-40FBC3E8DDA2}"/>
              </a:ext>
            </a:extLst>
          </p:cNvPr>
          <p:cNvSpPr txBox="1"/>
          <p:nvPr/>
        </p:nvSpPr>
        <p:spPr>
          <a:xfrm>
            <a:off x="237868" y="5661721"/>
            <a:ext cx="6098058" cy="2539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</a:rPr>
              <a:t>⬤ ⭘ ◐</a:t>
            </a:r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B2F5D-7583-2F34-5152-6F57A672AD1D}"/>
              </a:ext>
            </a:extLst>
          </p:cNvPr>
          <p:cNvSpPr txBox="1"/>
          <p:nvPr/>
        </p:nvSpPr>
        <p:spPr>
          <a:xfrm>
            <a:off x="8497067" y="2464563"/>
            <a:ext cx="2833542" cy="215444"/>
          </a:xfrm>
          <a:prstGeom prst="rect">
            <a:avLst/>
          </a:prstGeom>
          <a:solidFill>
            <a:srgbClr val="FFFD78"/>
          </a:solidFill>
          <a:ln w="12700">
            <a:miter lim="400000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400" b="1" dirty="0">
                <a:latin typeface="+mn-lt"/>
              </a:rPr>
              <a:t>Validate the accuracy of this</a:t>
            </a:r>
          </a:p>
        </p:txBody>
      </p:sp>
    </p:spTree>
    <p:extLst>
      <p:ext uri="{BB962C8B-B14F-4D97-AF65-F5344CB8AC3E}">
        <p14:creationId xmlns:p14="http://schemas.microsoft.com/office/powerpoint/2010/main" val="125263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512F-5927-91C1-2DCC-91B55A5B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4CF63-E45D-CD04-4393-8D42374674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19D92A-69BF-6919-55F6-EB4A871A2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90995"/>
              </p:ext>
            </p:extLst>
          </p:nvPr>
        </p:nvGraphicFramePr>
        <p:xfrm>
          <a:off x="3642840" y="2170546"/>
          <a:ext cx="4906319" cy="32174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8335">
                  <a:extLst>
                    <a:ext uri="{9D8B030D-6E8A-4147-A177-3AD203B41FA5}">
                      <a16:colId xmlns:a16="http://schemas.microsoft.com/office/drawing/2014/main" val="1453551852"/>
                    </a:ext>
                  </a:extLst>
                </a:gridCol>
                <a:gridCol w="3947984">
                  <a:extLst>
                    <a:ext uri="{9D8B030D-6E8A-4147-A177-3AD203B41FA5}">
                      <a16:colId xmlns:a16="http://schemas.microsoft.com/office/drawing/2014/main" val="3010194154"/>
                    </a:ext>
                  </a:extLst>
                </a:gridCol>
              </a:tblGrid>
              <a:tr h="21670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Low ──────────────────────────────────────► High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76648"/>
                  </a:ext>
                </a:extLst>
              </a:tr>
              <a:tr h="198031">
                <a:tc gridSpan="2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FUNCTIONAL DIMENSIONS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Autonomy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Data Integration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Reasoning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Tool Use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Human-driven │ Assisted │ Semi-autonomous │ Autonomous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Static Context │ RAG │ Multi-source + Live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Single-shot │ Chain-of-Thought │ Multi-step │ Planning + Reflection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Single tool │ Multi-tool │ Dynamic tool selection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Stateless │ Session │ Persistent │ Episodic + Semantic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Free-form │ Templated │ Structured │ Multi-artifact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98071"/>
                  </a:ext>
                </a:extLst>
              </a:tr>
              <a:tr h="173224">
                <a:tc gridSpan="2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NON-FUNCTIONAL DIMENSIONS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286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9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Resilience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Observability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Responsible AI</a:t>
                      </a:r>
                    </a:p>
                    <a:p>
                      <a:pPr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Compliance</a:t>
                      </a:r>
                      <a:endParaRPr lang="en-US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Basic API Key │ OAuth + Encryption │ RBAC + Audit │ Zero-trust + DLP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Best-effort │ SLA-bound │ Low-latency │ Real-time + Auto-scale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None │ Retry Logic │ Circuit Breakers │ Full HA + DR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Basic Logs │ Metrics + Traces │ Full APM │ AI-specific Monitoring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Content Filter │ Bias Checks │ Explainability │ Full Governance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228600" eaLnBrk="1" fontAlgn="auto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Minimal │ Industry Standards │ Regulated │ Mission-critical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83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6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B4E6-B190-747C-F06E-3453AE49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CD37F-96D2-6708-FFD4-7B9D2F6417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1404AB-09B9-CA1B-5BD8-00D94192A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59539"/>
              </p:ext>
            </p:extLst>
          </p:nvPr>
        </p:nvGraphicFramePr>
        <p:xfrm>
          <a:off x="576072" y="1639960"/>
          <a:ext cx="10401300" cy="2153988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6977694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268610917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1471873289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81569636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14466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NFR Domain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T1 Basic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T2 Enhanced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T3 Orchestrated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T4 Agentic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2787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Security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6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Performance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7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Resilience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Observability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734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Responsible AI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69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Compliance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0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DevOps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107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Cost Management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▓▓▓▓▓░░░░░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57588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E5FACEA-80E8-F109-D74D-EAC414054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72" y="3998182"/>
            <a:ext cx="41346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Legend: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▓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 = Required focus area, ░ = Lower priority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DA37A1-8CE6-C152-83B1-5E70224C1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09465"/>
              </p:ext>
            </p:extLst>
          </p:nvPr>
        </p:nvGraphicFramePr>
        <p:xfrm>
          <a:off x="685702" y="4479415"/>
          <a:ext cx="10401300" cy="1676464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380677996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40938673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92117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424611939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89460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Functional Dimension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T1 Basic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T2 Enhanced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T3 Orchestrated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T4 Agentic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75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Autonomy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32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Data Integration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65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Reasoning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243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Tool Use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8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Memory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▓░░░░░░░░░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5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Output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▓▓░░░░░░░░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▓▓▓░░░░░░░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▓▓▓▓▓▓░░░░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▓▓▓▓▓▓▓▓▓▓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8330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10BE871-FFE9-8EA2-9505-9ECE1C186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302" y="6360113"/>
            <a:ext cx="5349541" cy="749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65067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Functional Complexity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This matrix visualizes the progression of functional capabilities across tiers: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Legend: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 ▓ = Capability level, ░ = Growth potential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2910-2AA4-A636-716C-7B27EEC2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1DD05-E1C9-1396-A9B4-15A275EC10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4B422-0BC6-A66C-CF7F-7ADEEC8887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What is the primary output?</a:t>
            </a:r>
            <a:r>
              <a:rPr lang="en-US" dirty="0"/>
              <a:t> (content, structure, answer, decision, action)</a:t>
            </a:r>
          </a:p>
          <a:p>
            <a:r>
              <a:rPr lang="en-US" dirty="0"/>
              <a:t>2. </a:t>
            </a:r>
            <a:r>
              <a:rPr lang="en-US" b="1" dirty="0"/>
              <a:t>Does it need grounding?</a:t>
            </a:r>
            <a:r>
              <a:rPr lang="en-US" dirty="0"/>
              <a:t> If yes: what sources, freshness, and provenance?</a:t>
            </a:r>
          </a:p>
          <a:p>
            <a:r>
              <a:rPr lang="en-US" dirty="0"/>
              <a:t>3. </a:t>
            </a:r>
            <a:r>
              <a:rPr lang="en-US" b="1" dirty="0"/>
              <a:t>Does it take actions in external systems?</a:t>
            </a:r>
            <a:r>
              <a:rPr lang="en-US" dirty="0"/>
              <a:t> If yes: what is the blast radius?</a:t>
            </a:r>
          </a:p>
          <a:p>
            <a:r>
              <a:rPr lang="en-US" dirty="0"/>
              <a:t>4. </a:t>
            </a:r>
            <a:r>
              <a:rPr lang="en-US" b="1" dirty="0"/>
              <a:t>What is the error tolerance?</a:t>
            </a:r>
            <a:r>
              <a:rPr lang="en-US" dirty="0"/>
              <a:t> (low-stakes draft vs. regulated decision)</a:t>
            </a:r>
          </a:p>
          <a:p>
            <a:r>
              <a:rPr lang="en-US" dirty="0"/>
              <a:t>5. </a:t>
            </a:r>
            <a:r>
              <a:rPr lang="en-US" b="1" dirty="0"/>
              <a:t>What is the required oversight model?</a:t>
            </a:r>
            <a:r>
              <a:rPr lang="en-US" dirty="0"/>
              <a:t> (review, approve, audit-only)</a:t>
            </a:r>
          </a:p>
          <a:p>
            <a:r>
              <a:rPr lang="en-US" dirty="0"/>
              <a:t>6. </a:t>
            </a:r>
            <a:r>
              <a:rPr lang="en-US" b="1" dirty="0"/>
              <a:t>How will you measure quality?</a:t>
            </a:r>
            <a:r>
              <a:rPr lang="en-US" dirty="0"/>
              <a:t> (offline evals, online monitoring, HITL feedback)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5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0BEE-85CC-E520-76FD-3683182E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Heuristic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F19E1-A4D4-91B3-C7B7-29D01D4915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58EB-6C76-415E-0145-4D119D8D10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aligns with common implementation tiers (e.g., T1–T4 as used in many enterprise architectures):</a:t>
            </a:r>
          </a:p>
          <a:p>
            <a:r>
              <a:rPr lang="en-US" b="1" dirty="0"/>
              <a:t>T1</a:t>
            </a:r>
            <a:r>
              <a:rPr lang="en-US" dirty="0"/>
              <a:t>: Single-call generation/transformation; minimal integration</a:t>
            </a:r>
          </a:p>
          <a:p>
            <a:r>
              <a:rPr lang="en-US" b="1" dirty="0"/>
              <a:t>T2</a:t>
            </a:r>
            <a:r>
              <a:rPr lang="en-US" dirty="0"/>
              <a:t>: Grounding (RAG), structured outputs, basic memory</a:t>
            </a:r>
          </a:p>
          <a:p>
            <a:r>
              <a:rPr lang="en-US" b="1" dirty="0"/>
              <a:t>T3</a:t>
            </a:r>
            <a:r>
              <a:rPr lang="en-US" dirty="0"/>
              <a:t>: Multi-step orchestration, tool use, conditional flows, stronger observability</a:t>
            </a:r>
          </a:p>
          <a:p>
            <a:r>
              <a:rPr lang="en-US" b="1" dirty="0"/>
              <a:t>T4</a:t>
            </a:r>
            <a:r>
              <a:rPr lang="en-US" dirty="0"/>
              <a:t>: Agentic execution with planning, long-lived state, advanced safety/governance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5ABF74-BADF-AC2F-2BD4-CFEFA461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43E3E4-7921-AA3F-C3C2-1F1B61F61D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DDE4-D3EF-FF65-A8FF-DFBB2874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Archetypes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FC0F9-CA18-39C1-71EF-1EBE25BE8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With Features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5FCDA-7D7E-9990-3C54-371729277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254943"/>
              </p:ext>
            </p:extLst>
          </p:nvPr>
        </p:nvGraphicFramePr>
        <p:xfrm>
          <a:off x="576072" y="1428021"/>
          <a:ext cx="8177783" cy="4615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3856">
                  <a:extLst>
                    <a:ext uri="{9D8B030D-6E8A-4147-A177-3AD203B41FA5}">
                      <a16:colId xmlns:a16="http://schemas.microsoft.com/office/drawing/2014/main" val="677523601"/>
                    </a:ext>
                  </a:extLst>
                </a:gridCol>
                <a:gridCol w="337541">
                  <a:extLst>
                    <a:ext uri="{9D8B030D-6E8A-4147-A177-3AD203B41FA5}">
                      <a16:colId xmlns:a16="http://schemas.microsoft.com/office/drawing/2014/main" val="2867496237"/>
                    </a:ext>
                  </a:extLst>
                </a:gridCol>
                <a:gridCol w="1896201">
                  <a:extLst>
                    <a:ext uri="{9D8B030D-6E8A-4147-A177-3AD203B41FA5}">
                      <a16:colId xmlns:a16="http://schemas.microsoft.com/office/drawing/2014/main" val="594887778"/>
                    </a:ext>
                  </a:extLst>
                </a:gridCol>
                <a:gridCol w="2855117">
                  <a:extLst>
                    <a:ext uri="{9D8B030D-6E8A-4147-A177-3AD203B41FA5}">
                      <a16:colId xmlns:a16="http://schemas.microsoft.com/office/drawing/2014/main" val="3742965489"/>
                    </a:ext>
                  </a:extLst>
                </a:gridCol>
                <a:gridCol w="2235068">
                  <a:extLst>
                    <a:ext uri="{9D8B030D-6E8A-4147-A177-3AD203B41FA5}">
                      <a16:colId xmlns:a16="http://schemas.microsoft.com/office/drawing/2014/main" val="845754847"/>
                    </a:ext>
                  </a:extLst>
                </a:gridCol>
              </a:tblGrid>
              <a:tr h="154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Group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Archetype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Core Job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Key Features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172779809"/>
                  </a:ext>
                </a:extLst>
              </a:tr>
              <a:tr h="328702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A · Content &amp; Knowledge Synthesis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Content Generation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Create or rewrite content — text, code, images, audio, video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F3 · F4 · F6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780329730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2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Summarization &amp; Extraction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Condense information or extract structured data from unstructured inputs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F3 · F5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20108779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3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Grounded Q&amp;A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Answer questions from a curated knowledge base with citations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F4 · F5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4205229079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4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Research &amp; Synthesis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Produce analytical artifacts by synthesizing information from many sources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F2 · F3 · F5 · F7 · F8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699809518"/>
                  </a:ext>
                </a:extLst>
              </a:tr>
              <a:tr h="328702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 · Insight &amp; Decision Intelligence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Data Interpretation &amp; Analytics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Explain trends and anomalies from structured data; trigger automated responses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F3 · F8 · F9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321201745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Recommendation &amp; Personalization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Tailor content, workflows, or experiences to a user or context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 · F6 · F10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32644690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7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Simulation &amp; Synthetic Data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Generate datasets, scenarios, or environments for training and testing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F3 · F7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572456980"/>
                  </a:ext>
                </a:extLst>
              </a:tr>
              <a:tr h="328702">
                <a:tc row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 · Process &amp; Task Automation</a:t>
                      </a:r>
                      <a:endParaRPr lang="en-US" sz="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0151" marR="80151" marT="36993" marB="3699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</a:rPr>
                        <a:t>Software Dev Acceleration</a:t>
                      </a:r>
                      <a:endParaRPr lang="en-US" sz="8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Assist with coding, testing, review, and debugging across the SDLC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F3 · F4 · F8 · F11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06416004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9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Structured Workflow Automation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Automate deterministic business processes using GenAI for NLU/NLG steps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F3 · F8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3119566065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10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Agentic Task Automation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Plan and execute multi-step, dynamic tasks by orchestrating tools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F7 · F8 · F9 · F10 · F11 · F12 · F13 · F14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486952213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11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Ops &amp; Monitoring Copilot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Monitor signals, diagnose issues, and suggest or take controlled remediation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F7 · F8 · F9 · F10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2429568792"/>
                  </a:ext>
                </a:extLst>
              </a:tr>
              <a:tr h="328702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12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AI Governance &amp; Assurance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Support GRC: policy checks, control testing, audit evidence gathering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F2 · F3 · F5 · F11 · F12 · F13 · F15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404270951"/>
                  </a:ext>
                </a:extLst>
              </a:tr>
              <a:tr h="41551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13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</a:rPr>
                        <a:t>Conversational Agent</a:t>
                      </a:r>
                      <a:endParaRPr lang="en-US" sz="800">
                        <a:effectLst/>
                      </a:endParaRP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Conduct sustained, goal-directed conversations for support, sales, coaching, or advisory</a:t>
                      </a:r>
                    </a:p>
                  </a:txBody>
                  <a:tcPr marL="80151" marR="80151" marT="36993" marB="369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F1 · F4 · F6 · F10 · F11 · F12 · F13</a:t>
                      </a:r>
                    </a:p>
                  </a:txBody>
                  <a:tcPr marL="80151" marR="80151" marT="36993" marB="36993" anchor="ctr"/>
                </a:tc>
                <a:extLst>
                  <a:ext uri="{0D108BD9-81ED-4DB2-BD59-A6C34878D82A}">
                    <a16:rowId xmlns:a16="http://schemas.microsoft.com/office/drawing/2014/main" val="16650294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7D3AF6-5CF4-167A-7165-16C0368EA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26015"/>
              </p:ext>
            </p:extLst>
          </p:nvPr>
        </p:nvGraphicFramePr>
        <p:xfrm>
          <a:off x="9382491" y="1428021"/>
          <a:ext cx="2163128" cy="383312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731448126"/>
                    </a:ext>
                  </a:extLst>
                </a:gridCol>
                <a:gridCol w="1724216">
                  <a:extLst>
                    <a:ext uri="{9D8B030D-6E8A-4147-A177-3AD203B41FA5}">
                      <a16:colId xmlns:a16="http://schemas.microsoft.com/office/drawing/2014/main" val="4268558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0396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Contextual Grounding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5840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Multi-Source Synthesis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4306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Structured Output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10339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Interactive Refinement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53760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Citation &amp; Provenance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1984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F6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Adaptive Personalization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6039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Autonomous Planning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3466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Tool Orchestration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0492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Real-Time Data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66734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Long-Term Memory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83373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Human Oversight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9858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Safety Controls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3206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Learning &amp; Feedback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84631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Multi-Agent Collaboration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0283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F15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Auditability &amp; Compliance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35339941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3F4726-ACF6-F5EF-363E-E28ABA87A6DD}"/>
              </a:ext>
            </a:extLst>
          </p:cNvPr>
          <p:cNvCxnSpPr/>
          <p:nvPr/>
        </p:nvCxnSpPr>
        <p:spPr>
          <a:xfrm>
            <a:off x="9060864" y="1428021"/>
            <a:ext cx="0" cy="4649691"/>
          </a:xfrm>
          <a:prstGeom prst="line">
            <a:avLst/>
          </a:prstGeom>
          <a:ln cmpd="thinThick">
            <a:prstDash val="dash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9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E9E2-EBF6-A2D1-3BF4-1B3E0761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– Grounding vs Autonomy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CECE8-218A-0777-5BB9-71FC3E76CF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F4A5CB-C114-1B86-C629-413721793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091" y="1428021"/>
            <a:ext cx="7065818" cy="476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2D41-C60B-77B4-ECE3-7CA27889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 Chaining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9519-4D51-2B7C-79C3-2BF0F0616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1C84C1E-9D58-C530-8C1A-13228283F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1523600"/>
            <a:ext cx="7772400" cy="45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5DF2-6A4C-40A0-3260-683264F1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– Risk (Harm vs Impact))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02694-5ECD-C70C-80A3-D09B073EEC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0478-BC76-CDC7-2775-5CCAC618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891" y="1500332"/>
            <a:ext cx="5190217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025 CG Internal Template">
  <a:themeElements>
    <a:clrScheme name="New CG">
      <a:dk1>
        <a:srgbClr val="000000"/>
      </a:dk1>
      <a:lt1>
        <a:srgbClr val="FFFFFF"/>
      </a:lt1>
      <a:dk2>
        <a:srgbClr val="8FADB2"/>
      </a:dk2>
      <a:lt2>
        <a:srgbClr val="E6ECEE"/>
      </a:lt2>
      <a:accent1>
        <a:srgbClr val="005F9E"/>
      </a:accent1>
      <a:accent2>
        <a:srgbClr val="083469"/>
      </a:accent2>
      <a:accent3>
        <a:srgbClr val="008074"/>
      </a:accent3>
      <a:accent4>
        <a:srgbClr val="0074E5"/>
      </a:accent4>
      <a:accent5>
        <a:srgbClr val="C9EBE9"/>
      </a:accent5>
      <a:accent6>
        <a:srgbClr val="831574"/>
      </a:accent6>
      <a:hlink>
        <a:srgbClr val="0074E5"/>
      </a:hlink>
      <a:folHlink>
        <a:srgbClr val="083469"/>
      </a:folHlink>
    </a:clrScheme>
    <a:fontScheme name="CG Brand font">
      <a:majorFont>
        <a:latin typeface="AvenirNext LT Com Regular"/>
        <a:ea typeface=""/>
        <a:cs typeface=""/>
      </a:majorFont>
      <a:minorFont>
        <a:latin typeface="AvenirNext LT Com Regular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 dirty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AvenirNext LT Com Regular" panose="020B0503020202020204" pitchFamily="34" charset="0"/>
            <a:sym typeface="Avenir Next LT Com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chemeClr val="tx1"/>
          </a:solidFill>
          <a:prstDash val="solid"/>
          <a:miter lim="400000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</a:spPr>
      <a:bodyPr wrap="square" lIns="0" tIns="0" rIns="0" bIns="0" rtlCol="0">
        <a:spAutoFit/>
      </a:bodyPr>
      <a:lstStyle>
        <a:defPPr>
          <a:defRPr sz="1400" b="1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B50A517E-4C74-4F4E-B9C2-726A8DD8EC99}" vid="{DAD6A16D-088A-4C4B-B26D-6EF59A99E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9257c8-2b28-4d49-9170-6ae1aa1d2926">
      <Terms xmlns="http://schemas.microsoft.com/office/infopath/2007/PartnerControls"/>
    </lcf76f155ced4ddcb4097134ff3c332f>
    <TaxCatchAll xmlns="4cf2dea1-efbc-49a9-84aa-d3ceb6f6ac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1AF662EE5B149A678267180E16011" ma:contentTypeVersion="10" ma:contentTypeDescription="Create a new document." ma:contentTypeScope="" ma:versionID="5586edccbf00e9b53dbb2b04004fa58a">
  <xsd:schema xmlns:xsd="http://www.w3.org/2001/XMLSchema" xmlns:xs="http://www.w3.org/2001/XMLSchema" xmlns:p="http://schemas.microsoft.com/office/2006/metadata/properties" xmlns:ns2="fc9257c8-2b28-4d49-9170-6ae1aa1d2926" xmlns:ns3="4cf2dea1-efbc-49a9-84aa-d3ceb6f6ac93" targetNamespace="http://schemas.microsoft.com/office/2006/metadata/properties" ma:root="true" ma:fieldsID="a98dddea4a1ec22599b8448039408767" ns2:_="" ns3:_="">
    <xsd:import namespace="fc9257c8-2b28-4d49-9170-6ae1aa1d2926"/>
    <xsd:import namespace="4cf2dea1-efbc-49a9-84aa-d3ceb6f6ac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9257c8-2b28-4d49-9170-6ae1aa1d29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42c85e0-9014-473f-b2d5-b20670940c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f2dea1-efbc-49a9-84aa-d3ceb6f6ac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5c2d49-dd27-4279-8113-205d046494cc}" ma:internalName="TaxCatchAll" ma:showField="CatchAllData" ma:web="4cf2dea1-efbc-49a9-84aa-d3ceb6f6ac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98A173-25AE-4084-B602-A38F9DEE95EA}">
  <ds:schemaRefs>
    <ds:schemaRef ds:uri="http://schemas.microsoft.com/office/2006/metadata/properties"/>
    <ds:schemaRef ds:uri="http://schemas.microsoft.com/office/infopath/2007/PartnerControls"/>
    <ds:schemaRef ds:uri="fc9257c8-2b28-4d49-9170-6ae1aa1d2926"/>
    <ds:schemaRef ds:uri="4cf2dea1-efbc-49a9-84aa-d3ceb6f6ac93"/>
  </ds:schemaRefs>
</ds:datastoreItem>
</file>

<file path=customXml/itemProps2.xml><?xml version="1.0" encoding="utf-8"?>
<ds:datastoreItem xmlns:ds="http://schemas.openxmlformats.org/officeDocument/2006/customXml" ds:itemID="{0D7A924F-8460-40AD-A4C8-C26F47DA3E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83DCD6-E83F-4172-A99A-606ED7409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9257c8-2b28-4d49-9170-6ae1aa1d2926"/>
    <ds:schemaRef ds:uri="4cf2dea1-efbc-49a9-84aa-d3ceb6f6ac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Global-Technology_template</Template>
  <TotalTime>771</TotalTime>
  <Words>2359</Words>
  <Application>Microsoft Macintosh PowerPoint</Application>
  <PresentationFormat>Widescreen</PresentationFormat>
  <Paragraphs>607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Avenir Next LT Com Regular</vt:lpstr>
      <vt:lpstr>AvenirNext LT Com Medium</vt:lpstr>
      <vt:lpstr>AvenirNext LT Com Regular</vt:lpstr>
      <vt:lpstr>Helvetica Neue</vt:lpstr>
      <vt:lpstr>2025 CG Internal Template</vt:lpstr>
      <vt:lpstr>Agentic Architecture Framework</vt:lpstr>
      <vt:lpstr>Helix Vision &amp; Philosophy</vt:lpstr>
      <vt:lpstr>Agentic Archetypes</vt:lpstr>
      <vt:lpstr>Archetype Composition</vt:lpstr>
      <vt:lpstr>Additional Archetype Dimensions</vt:lpstr>
      <vt:lpstr>Archetypes &amp; Features</vt:lpstr>
      <vt:lpstr>Features &amp; Technical Components </vt:lpstr>
      <vt:lpstr>PowerPoint Presentation</vt:lpstr>
      <vt:lpstr>GenAI Technical Components</vt:lpstr>
      <vt:lpstr>Archetype Mapping</vt:lpstr>
      <vt:lpstr>Complexity Dimensions</vt:lpstr>
      <vt:lpstr>PowerPoint Presentation</vt:lpstr>
      <vt:lpstr>Selection Framework</vt:lpstr>
      <vt:lpstr>Tier Heuristic</vt:lpstr>
      <vt:lpstr>Appendix</vt:lpstr>
      <vt:lpstr>Agentic Archetypes </vt:lpstr>
      <vt:lpstr>Archetypes – Grounding vs Autonomy</vt:lpstr>
      <vt:lpstr>Archetype Chaining</vt:lpstr>
      <vt:lpstr>Archetypes – Risk (Harm vs Impact))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Conner (JHHC)</dc:creator>
  <cp:lastModifiedBy>Jim Conner (JHHC)</cp:lastModifiedBy>
  <cp:revision>3</cp:revision>
  <dcterms:created xsi:type="dcterms:W3CDTF">2026-01-20T19:56:33Z</dcterms:created>
  <dcterms:modified xsi:type="dcterms:W3CDTF">2026-03-06T20:55:13Z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0x010100E491AF662EE5B149A678267180E16011</vt:lpwstr>
  </property>
</Properties>
</file>